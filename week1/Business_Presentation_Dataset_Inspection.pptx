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BUSINESS PRESENTATION</a:t>
            </a:r>
          </a:p>
          <a:p>
            <a:pPr>
              <a:defRPr sz="2400"/>
            </a:pPr>
            <a:r>
              <a:t>Dataset Inspection &amp; Customer Churn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Week One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Business issue: customer churn reduces recurring revenue and customer lifetime value.</a:t>
            </a:r>
          </a:p>
          <a:p>
            <a:pPr>
              <a:spcAft>
                <a:spcPts val="1200"/>
              </a:spcAft>
              <a:defRPr sz="2000"/>
            </a:pPr>
            <a:r>
              <a:t>Objective: inspect the customer dataset, identify churn patterns and translate them into business actions.</a:t>
            </a:r>
          </a:p>
          <a:p>
            <a:pPr>
              <a:spcAft>
                <a:spcPts val="1200"/>
              </a:spcAft>
              <a:defRPr sz="2000"/>
            </a:pPr>
            <a:r>
              <a:t>Focus: customer profile, service usage, contracts, payment behaviour, charges and tenure.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7,043 customer records across 21 fields.</a:t>
            </a:r>
          </a:p>
          <a:p>
            <a:pPr>
              <a:spcAft>
                <a:spcPts val="1200"/>
              </a:spcAft>
              <a:defRPr sz="1800"/>
            </a:pPr>
            <a:r>
              <a:t>Overall churn: 26.5% (1,869 customers).</a:t>
            </a:r>
          </a:p>
          <a:p>
            <a:pPr>
              <a:spcAft>
                <a:spcPts val="1200"/>
              </a:spcAft>
              <a:defRPr sz="1800"/>
            </a:pPr>
            <a:r>
              <a:t>No duplicate rows were identified.</a:t>
            </a:r>
          </a:p>
          <a:p>
            <a:pPr>
              <a:spcAft>
                <a:spcPts val="1200"/>
              </a:spcAft>
              <a:defRPr sz="1800"/>
            </a:pPr>
            <a:r>
              <a:t>11 TotalCharges values are missing and require validation.</a:t>
            </a:r>
          </a:p>
          <a:p>
            <a:pPr>
              <a:spcAft>
                <a:spcPts val="1200"/>
              </a:spcAft>
              <a:defRPr sz="1800"/>
            </a:pPr>
            <a:r>
              <a:t>Average monthly charge: $64.76; average total charge: $2,283.30.</a:t>
            </a:r>
          </a:p>
          <a:p>
            <a:pPr>
              <a:spcAft>
                <a:spcPts val="1200"/>
              </a:spcAft>
              <a:defRPr sz="1800"/>
            </a:pPr>
            <a:r>
              <a:t>The workbook combines raw data with analysis outputs; separating these layers is recommended for future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Headline Finding: Contract Type</a:t>
            </a:r>
          </a:p>
        </p:txBody>
      </p:sp>
      <p:pic>
        <p:nvPicPr>
          <p:cNvPr id="3" name="Picture 2" descr="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Month-to-month churn: 42.7%</a:t>
            </a:r>
          </a:p>
          <a:p>
            <a:pPr>
              <a:spcAft>
                <a:spcPts val="1200"/>
              </a:spcAft>
              <a:defRPr sz="1700"/>
            </a:pPr>
            <a:r>
              <a:t>One-year churn: 11.3%</a:t>
            </a:r>
          </a:p>
          <a:p>
            <a:pPr>
              <a:spcAft>
                <a:spcPts val="1200"/>
              </a:spcAft>
              <a:defRPr sz="1700"/>
            </a:pPr>
            <a:r>
              <a:t>Two-year churn: 2.8%</a:t>
            </a:r>
          </a:p>
          <a:p>
            <a:pPr>
              <a:spcAft>
                <a:spcPts val="1200"/>
              </a:spcAft>
              <a:defRPr sz="1700"/>
            </a:pPr>
            <a:r>
              <a:t>Contract structure is the clearest retention lever in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Churn Concentrates Early</a:t>
            </a:r>
          </a:p>
        </p:txBody>
      </p:sp>
      <p:pic>
        <p:nvPicPr>
          <p:cNvPr id="3" name="Picture 2" descr="tenure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First 12 months: 47.4% churn</a:t>
            </a:r>
          </a:p>
          <a:p>
            <a:pPr>
              <a:spcAft>
                <a:spcPts val="1200"/>
              </a:spcAft>
              <a:defRPr sz="1700"/>
            </a:pPr>
            <a:r>
              <a:t>61–72 months: 6.6% churn</a:t>
            </a:r>
          </a:p>
          <a:p>
            <a:pPr>
              <a:spcAft>
                <a:spcPts val="1200"/>
              </a:spcAft>
              <a:defRPr sz="1700"/>
            </a:pPr>
            <a:r>
              <a:t>Retention investment should be front-loaded into onboarding and the first year.</a:t>
            </a:r>
          </a:p>
          <a:p>
            <a:pPr>
              <a:spcAft>
                <a:spcPts val="1200"/>
              </a:spcAft>
              <a:defRPr sz="1700"/>
            </a:pPr>
            <a:r>
              <a:t>Longer tenure is associated with lower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Service Segment Risk</a:t>
            </a:r>
          </a:p>
        </p:txBody>
      </p:sp>
      <p:pic>
        <p:nvPicPr>
          <p:cNvPr id="3" name="Picture 2" descr="interne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Fibre-optic churn: 41.9%</a:t>
            </a:r>
          </a:p>
          <a:p>
            <a:pPr>
              <a:spcAft>
                <a:spcPts val="1200"/>
              </a:spcAft>
              <a:defRPr sz="1700"/>
            </a:pPr>
            <a:r>
              <a:t>DSL churn: 19.0%</a:t>
            </a:r>
          </a:p>
          <a:p>
            <a:pPr>
              <a:spcAft>
                <a:spcPts val="1200"/>
              </a:spcAft>
              <a:defRPr sz="1700"/>
            </a:pPr>
            <a:r>
              <a:t>No-internet-service churn: 7.4%</a:t>
            </a:r>
          </a:p>
          <a:p>
            <a:pPr>
              <a:spcAft>
                <a:spcPts val="1200"/>
              </a:spcAft>
              <a:defRPr sz="1700"/>
            </a:pPr>
            <a:r>
              <a:t>Premium fibre customers may represent a value, reliability or service-experience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Payment Behaviour Matters</a:t>
            </a:r>
          </a:p>
        </p:txBody>
      </p:sp>
      <p:pic>
        <p:nvPicPr>
          <p:cNvPr id="3" name="Picture 2" descr="paymen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Electronic check: 45.3% churn</a:t>
            </a:r>
          </a:p>
          <a:p>
            <a:pPr>
              <a:spcAft>
                <a:spcPts val="1200"/>
              </a:spcAft>
              <a:defRPr sz="1700"/>
            </a:pPr>
            <a:r>
              <a:t>Automatic credit card: 15.2%</a:t>
            </a:r>
          </a:p>
          <a:p>
            <a:pPr>
              <a:spcAft>
                <a:spcPts val="1200"/>
              </a:spcAft>
              <a:defRPr sz="1700"/>
            </a:pPr>
            <a:r>
              <a:t>Automatic bank transfer: 16.7%</a:t>
            </a:r>
          </a:p>
          <a:p>
            <a:pPr>
              <a:spcAft>
                <a:spcPts val="1200"/>
              </a:spcAft>
              <a:defRPr sz="1700"/>
            </a:pPr>
            <a:r>
              <a:t>Encouraging automatic payments may reduce friction and improve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Business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Revenue concentration: higher-value fibre customers are also exposed to high churn.</a:t>
            </a:r>
          </a:p>
          <a:p>
            <a:pPr>
              <a:spcAft>
                <a:spcPts val="1200"/>
              </a:spcAft>
              <a:defRPr sz="1900"/>
            </a:pPr>
            <a:r>
              <a:t>Contract volatility: a large month-to-month customer base can leave with limited notice.</a:t>
            </a:r>
          </a:p>
          <a:p>
            <a:pPr>
              <a:spcAft>
                <a:spcPts val="1200"/>
              </a:spcAft>
              <a:defRPr sz="1900"/>
            </a:pPr>
            <a:r>
              <a:t>First-year risk: early churn reduces lifetime value and raises acquisition requirements.</a:t>
            </a:r>
          </a:p>
          <a:p>
            <a:pPr>
              <a:spcAft>
                <a:spcPts val="1200"/>
              </a:spcAft>
              <a:defRPr sz="1900"/>
            </a:pPr>
            <a:r>
              <a:t>Payment risk: electronic-check users are a high-risk behavioural segment.</a:t>
            </a:r>
          </a:p>
          <a:p>
            <a:pPr>
              <a:spcAft>
                <a:spcPts val="1200"/>
              </a:spcAft>
              <a:defRPr sz="1900"/>
            </a:pPr>
            <a:r>
              <a:t>Service-value risk: lack of add-on support services is associated with higher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Target month-to-month customers for contract conversion with tailored offers.</a:t>
            </a:r>
          </a:p>
          <a:p>
            <a:pPr>
              <a:spcAft>
                <a:spcPts val="1200"/>
              </a:spcAft>
              <a:defRPr sz="1800"/>
            </a:pPr>
            <a:r>
              <a:t>Launch first-year retention checkpoints at months 1, 3, 6 and 12.</a:t>
            </a:r>
          </a:p>
          <a:p>
            <a:pPr>
              <a:spcAft>
                <a:spcPts val="1200"/>
              </a:spcAft>
              <a:defRPr sz="1800"/>
            </a:pPr>
            <a:r>
              <a:t>Audit fibre pricing, reliability, complaints and perceived value.</a:t>
            </a:r>
          </a:p>
          <a:p>
            <a:pPr>
              <a:spcAft>
                <a:spcPts val="1200"/>
              </a:spcAft>
              <a:defRPr sz="1800"/>
            </a:pPr>
            <a:r>
              <a:t>Promote automatic payment migration with simple incentives.</a:t>
            </a:r>
          </a:p>
          <a:p>
            <a:pPr>
              <a:spcAft>
                <a:spcPts val="1200"/>
              </a:spcAft>
              <a:defRPr sz="1800"/>
            </a:pPr>
            <a:r>
              <a:t>Use add-on bundles—security, support and protection—as retention tools.</a:t>
            </a:r>
          </a:p>
          <a:p>
            <a:pPr>
              <a:spcAft>
                <a:spcPts val="1200"/>
              </a:spcAft>
              <a:defRPr sz="1800"/>
            </a:pPr>
            <a:r>
              <a:t>Create a monthly churn dashboard with customer-risk segmentation.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Management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Churn is not evenly distributed; it is concentrated in identifiable customer segments.</a:t>
            </a:r>
          </a:p>
          <a:p>
            <a:pPr>
              <a:spcAft>
                <a:spcPts val="1200"/>
              </a:spcAft>
              <a:defRPr sz="2100"/>
            </a:pPr>
            <a:r>
              <a:t>The strongest actionable signals are contract type, tenure, internet service and payment method.</a:t>
            </a:r>
          </a:p>
          <a:p>
            <a:pPr>
              <a:spcAft>
                <a:spcPts val="1200"/>
              </a:spcAft>
              <a:defRPr sz="2100"/>
            </a:pPr>
            <a:r>
              <a:t>The biggest opportunity is proactive retention—not waiting until customers are already leaving.</a:t>
            </a:r>
          </a:p>
          <a:p>
            <a:pPr>
              <a:spcAft>
                <a:spcPts val="1200"/>
              </a:spcAft>
              <a:defRPr sz="2100"/>
            </a:pPr>
            <a:r>
              <a:t>A targeted retention strategy can protect recurring revenue while improving customer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